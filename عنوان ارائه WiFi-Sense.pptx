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537" y="2320379"/>
            <a:ext cx="2828925" cy="390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5778" y="2949029"/>
            <a:ext cx="3540442" cy="77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120"/>
              </a:lnSpc>
            </a:pPr>
            <a:r>
              <a:rPr b="0" sz="5100" i="0" u="none">
                <a:solidFill>
                  <a:srgbClr val="FFFFFF"/>
                </a:solidFill>
                <a:latin typeface="Vazirmatn ExtraBold"/>
              </a:rPr>
              <a:t>WiFi-Sense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5962" y="3916709"/>
            <a:ext cx="822007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Vazirmatn"/>
              </a:rPr>
              <a:t>تشخیص غیرلمسی حضور انسان و هوشمندی محیطی بر پایه نوسانات امواج الکترومغناطیسی وای‌فای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439888"/>
            <a:ext cx="5348287" cy="27686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439888"/>
            <a:ext cx="5348287" cy="27686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05587" y="3535263"/>
            <a:ext cx="4895611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Vazirmatn"/>
              </a:rPr>
              <a:t>نود فرستنده (Sender ESP32)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5587" y="4040088"/>
            <a:ext cx="4662487" cy="825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7"/>
              </a:lnSpc>
            </a:pPr>
            <a:r>
              <a:rPr b="0" sz="1275" i="0" u="none">
                <a:solidFill>
                  <a:srgbClr val="CBD5E1"/>
                </a:solidFill>
                <a:latin typeface="Vazirmatn"/>
              </a:rPr>
              <a:t>این برد برنامه‌نویسی شده تا به‌صورت پیوسته پکت‌های داده را روی ۶۴ کانال مختلف وای‌فای ارسال کند. این پکت‌ها در فضای اتاق میدان الکترومغناطیسی فعال ایجاد می‌کنند.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35263"/>
            <a:ext cx="4895611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Vazirmatn"/>
              </a:rPr>
              <a:t>نود گیرنده (Receiver-Manager)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040088"/>
            <a:ext cx="4662487" cy="825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7"/>
              </a:lnSpc>
            </a:pPr>
            <a:r>
              <a:rPr b="0" sz="1275" i="0" u="none">
                <a:solidFill>
                  <a:srgbClr val="CBD5E1"/>
                </a:solidFill>
                <a:latin typeface="Vazirmatn"/>
              </a:rPr>
              <a:t>برد گیرنده پکت‌های ارسالی را روی طیف‌های فرکانسی دریافت کرده و تغییرات قدرت سیگنال (RSSI) را استخراج می‌کند، سپس داده‌ها را روی پورت سریال به سیستم منتقل می‌نماید.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0" y="2839938"/>
            <a:ext cx="409575" cy="361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4462" y="2839938"/>
            <a:ext cx="361950" cy="361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527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F8FAFC"/>
                </a:solidFill>
                <a:latin typeface="Vazirmatn"/>
              </a:rPr>
              <a:t>معماری سخت‌افزار فرستنده و گیرنده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34775" y="9906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439888"/>
            <a:ext cx="5348287" cy="27686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439888"/>
            <a:ext cx="5348287" cy="27686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05587" y="3535263"/>
            <a:ext cx="4895611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Vazirmatn"/>
              </a:rPr>
              <a:t>دریافت هوشمند داده از پورت سریال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5587" y="4040088"/>
            <a:ext cx="4662487" cy="825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7"/>
              </a:lnSpc>
            </a:pPr>
            <a:r>
              <a:rPr b="0" sz="1275" i="0" u="none">
                <a:solidFill>
                  <a:srgbClr val="CBD5E1"/>
                </a:solidFill>
                <a:latin typeface="Vazirmatn"/>
              </a:rPr>
              <a:t>کد پایتون توسعه‌یافته به‌صورت مداوم و فرکانس بالا داده‌های خامی که توسط گیرنده ESP32 از روی پورت سریال خوانده می‌شود را استخراج و پردازش می‌کند.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35263"/>
            <a:ext cx="4895611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Vazirmatn"/>
              </a:rPr>
              <a:t>ثبت ساختاریافته در فایل داده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040088"/>
            <a:ext cx="4662487" cy="825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7"/>
              </a:lnSpc>
            </a:pPr>
            <a:r>
              <a:rPr b="0" sz="1275" i="0" u="none">
                <a:solidFill>
                  <a:srgbClr val="CBD5E1"/>
                </a:solidFill>
                <a:latin typeface="Vazirmatn"/>
              </a:rPr>
              <a:t>داده‌های دریافتی شامل نوسانات قدرت امواج روی ۶۴ کانال به‌صورت مرتب و ساختاریافته جهت آموزش مدل‌های یادگیری ماشین در فایل‌های پایگاه‌داده ذخیره می‌شوند.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0875" y="2839938"/>
            <a:ext cx="457200" cy="361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4462" y="2839938"/>
            <a:ext cx="361950" cy="361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527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F8FAFC"/>
                </a:solidFill>
                <a:latin typeface="Vazirmatn"/>
              </a:rPr>
              <a:t>خط لوله جمع‌آوری و پردازش داده‌ها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34775" y="9906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3124" y="2598539"/>
            <a:ext cx="3517850" cy="24514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149" y="2598539"/>
            <a:ext cx="3517850" cy="24514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73" y="2598539"/>
            <a:ext cx="3517850" cy="24514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250" y="2941439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1079" y="3722489"/>
            <a:ext cx="311367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650" i="0" u="none">
                <a:solidFill>
                  <a:srgbClr val="F8FAFC"/>
                </a:solidFill>
                <a:latin typeface="Vazirmatn"/>
              </a:rPr>
              <a:t>اتاق خالی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9349" y="4189214"/>
            <a:ext cx="29654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00" i="0" u="none">
                <a:solidFill>
                  <a:srgbClr val="94A3B8"/>
                </a:solidFill>
                <a:latin typeface="Vazirmatn"/>
              </a:rPr>
              <a:t>ثبت داده‌های پایه نویز محیطی و بازتاب‌های طبیعی امواج الکترومغناطیسی در غیاب افراد.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7274" y="2941439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65104" y="3722489"/>
            <a:ext cx="311367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650" i="0" u="none">
                <a:solidFill>
                  <a:srgbClr val="F8FAFC"/>
                </a:solidFill>
                <a:latin typeface="Vazirmatn"/>
              </a:rPr>
              <a:t>حضور ۱ نفر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3374" y="4189214"/>
            <a:ext cx="29654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00" i="0" u="none">
                <a:solidFill>
                  <a:srgbClr val="94A3B8"/>
                </a:solidFill>
                <a:latin typeface="Vazirmatn"/>
              </a:rPr>
              <a:t>ایجاد جذب و نوسان مشخص در امواج وای‌فای به‌دلیل حضور یک فرد در محیط پایش.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1299" y="2941439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9128" y="3722489"/>
            <a:ext cx="311367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650" i="0" u="none">
                <a:solidFill>
                  <a:srgbClr val="F8FAFC"/>
                </a:solidFill>
                <a:latin typeface="Vazirmatn"/>
              </a:rPr>
              <a:t>حضور ۲ نفر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398" y="4189214"/>
            <a:ext cx="29654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00" i="0" u="none">
                <a:solidFill>
                  <a:srgbClr val="94A3B8"/>
                </a:solidFill>
                <a:latin typeface="Vazirmatn"/>
              </a:rPr>
              <a:t>شکل‌گیری الگوی پیچیده‌تر تداخل و بازتاب امواج ناشی از حضور هم‌زمان چند فرد.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96600" y="3093839"/>
            <a:ext cx="3048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3962" y="3093839"/>
            <a:ext cx="23812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0361" y="3093839"/>
            <a:ext cx="33337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527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F8FAFC"/>
                </a:solidFill>
                <a:latin typeface="Vazirmatn"/>
              </a:rPr>
              <a:t>برچسب‌گذاری داده‌های حضور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534775" y="9906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76350"/>
            <a:ext cx="11029950" cy="5095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47937" y="5105846"/>
            <a:ext cx="7096125" cy="275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7"/>
              </a:lnSpc>
            </a:pPr>
            <a:r>
              <a:rPr b="0" sz="1275" i="0" u="none">
                <a:solidFill>
                  <a:srgbClr val="94A3B8"/>
                </a:solidFill>
                <a:latin typeface="Vazirmatn"/>
              </a:rPr>
              <a:t>مدل XGBoost با تحلیل دقیق نوسانات غیرخطی روی تمام ۶۴ کانال وای‌فای، بالاترین دقت طبقه‌بندی را ثبت کرد.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27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F8FAFC"/>
                </a:solidFill>
                <a:latin typeface="Vazirmatn"/>
              </a:rPr>
              <a:t>مقایسه عملکرد مدل‌های هوش مصنوعی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534775" y="9906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576512"/>
            <a:ext cx="5348287" cy="2495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712" y="2967037"/>
            <a:ext cx="4948237" cy="1238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62712" y="4348162"/>
            <a:ext cx="494823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Vazirmatn"/>
              </a:rPr>
              <a:t>دقت کل الگوریتم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094732"/>
            <a:ext cx="5615701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38BDF8"/>
                </a:solidFill>
                <a:latin typeface="Vazirmatn"/>
              </a:rPr>
              <a:t>تشخیص دقیق بدون استفاده از دوربین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628132"/>
            <a:ext cx="5348287" cy="925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b="0" sz="1350" i="0" u="none">
                <a:solidFill>
                  <a:srgbClr val="CBD5E1"/>
                </a:solidFill>
                <a:latin typeface="Vazirmatn"/>
              </a:rPr>
              <a:t>سیستم WiFi-Sense با استفاده از مدل XGBoost و تحلیل تغییرات شدت امواج الکترومغناطیسی، حضور افراد را با دقت ۸۶٪ و بدون نیاز به دوربین یا هرگونه حسگر لمسی تشخیص داده و حریم خصوصی کامل افراد را تضمین می‌کند.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27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F8FAFC"/>
                </a:solidFill>
                <a:latin typeface="Vazirmatn"/>
              </a:rPr>
              <a:t>دقت تشخیص هوشمند حضور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534775" y="9906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439888"/>
            <a:ext cx="5348287" cy="27686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439888"/>
            <a:ext cx="5348287" cy="27686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05587" y="3535263"/>
            <a:ext cx="4895611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Vazirmatn"/>
              </a:rPr>
              <a:t>پنجره متحرک ۳ ثانیه‌ای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5587" y="4040088"/>
            <a:ext cx="4662487" cy="550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7"/>
              </a:lnSpc>
            </a:pPr>
            <a:r>
              <a:rPr b="0" sz="1275" i="0" u="none">
                <a:solidFill>
                  <a:srgbClr val="CBD5E1"/>
                </a:solidFill>
                <a:latin typeface="Vazirmatn"/>
              </a:rPr>
              <a:t>داشبورد توسعه‌یافته با Streamlit سیگنال‌های دریافتی را با پنجره لغزان ۳ ثانیه‌ای به صورت زنده، لحظه‌ای و تصویری روی نمودار نمایش می‌دهد.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35263"/>
            <a:ext cx="4895611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Vazirmatn"/>
              </a:rPr>
              <a:t>پیش‌بینی برخط مدل XGBoost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040088"/>
            <a:ext cx="4662487" cy="825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7"/>
              </a:lnSpc>
            </a:pPr>
            <a:r>
              <a:rPr b="0" sz="1275" i="0" u="none">
                <a:solidFill>
                  <a:srgbClr val="CBD5E1"/>
                </a:solidFill>
                <a:latin typeface="Vazirmatn"/>
              </a:rPr>
              <a:t>داده‌های سیگنال در هر لحظه به مدل XGBoost ارسال شده و پیش‌بینی وضعیت اتاق (خالی، ۱ نفر، یا ۲ نفر) به‌طور آنی روی صفحه نمایش داده می‌شود.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6125" y="2839938"/>
            <a:ext cx="361950" cy="361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4462" y="2839938"/>
            <a:ext cx="361950" cy="361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527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F8FAFC"/>
                </a:solidFill>
                <a:latin typeface="Vazirmatn"/>
              </a:rPr>
              <a:t>داشبورد آنلاین در Streamlit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34775" y="9906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3124" y="2302371"/>
            <a:ext cx="3517850" cy="30438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149" y="2302371"/>
            <a:ext cx="3517850" cy="30438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73" y="2302371"/>
            <a:ext cx="3517850" cy="30438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250" y="2645271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1079" y="3426321"/>
            <a:ext cx="311367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650" i="0" u="none">
                <a:solidFill>
                  <a:srgbClr val="F8FAFC"/>
                </a:solidFill>
                <a:latin typeface="Vazirmatn"/>
              </a:rPr>
              <a:t>اندازه‌گیری ضربان قلب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9349" y="3893046"/>
            <a:ext cx="29654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00" i="0" u="none">
                <a:solidFill>
                  <a:srgbClr val="94A3B8"/>
                </a:solidFill>
                <a:latin typeface="Vazirmatn"/>
              </a:rPr>
              <a:t>افزایش دقت استخراج سیگنال جهت تشخیص ریزحرکات قفسه سینه و پایش ضربان قلب بدون اتصال حسگر لمسی.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7274" y="2645271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65104" y="3426321"/>
            <a:ext cx="311367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650" i="0" u="none">
                <a:solidFill>
                  <a:srgbClr val="F8FAFC"/>
                </a:solidFill>
                <a:latin typeface="Vazirmatn"/>
              </a:rPr>
              <a:t>کاربرد در بیمارستان و خانه سالمندان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3374" y="4226421"/>
            <a:ext cx="29654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00" i="0" u="none">
                <a:solidFill>
                  <a:srgbClr val="94A3B8"/>
                </a:solidFill>
                <a:latin typeface="Vazirmatn"/>
              </a:rPr>
              <a:t>پایش پیوسته، غیرتهاجمی و آرامش‌بخش وضعیت سلامت بیماران و سالمندان بدون نیاز به گجت‌های پوشیدنی.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1299" y="2645271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9128" y="3426321"/>
            <a:ext cx="311367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650" i="0" u="none">
                <a:solidFill>
                  <a:srgbClr val="F8FAFC"/>
                </a:solidFill>
                <a:latin typeface="Vazirmatn"/>
              </a:rPr>
              <a:t>هشدار اضطراری خودکار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398" y="3893046"/>
            <a:ext cx="29654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b="0" sz="1200" i="0" u="none">
                <a:solidFill>
                  <a:srgbClr val="94A3B8"/>
                </a:solidFill>
                <a:latin typeface="Vazirmatn"/>
              </a:rPr>
              <a:t>ارسال هشدار و آلارم آنی به پرستاران و کادر درمان در صورت افت ضربان قلب یا بروز شرایط نامساعد.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15650" y="2797671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0624" y="2797671"/>
            <a:ext cx="3048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3699" y="2797671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527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F8FAFC"/>
                </a:solidFill>
                <a:latin typeface="Vazirmatn"/>
              </a:rPr>
              <a:t>توسعه آینده: سنجش علائم حیاتی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534775" y="9906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439888"/>
            <a:ext cx="5348287" cy="27686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439888"/>
            <a:ext cx="5348287" cy="27686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05587" y="3535263"/>
            <a:ext cx="4895611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Vazirmatn"/>
              </a:rPr>
              <a:t>پوشش کل ابعاد ساختمان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5587" y="4040088"/>
            <a:ext cx="4662487" cy="825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7"/>
              </a:lnSpc>
            </a:pPr>
            <a:r>
              <a:rPr b="0" sz="1275" i="0" u="none">
                <a:solidFill>
                  <a:srgbClr val="CBD5E1"/>
                </a:solidFill>
                <a:latin typeface="Vazirmatn"/>
              </a:rPr>
              <a:t>افزایش برد فرستنده-گیرنده‌ها برای پوشش کامل طبقات و عملکرد به‌عنوان یک سامانه امنیتی هوشمند و یکپارچه، کاملاً جایگزین دوربین بدون نقض حریم خصوصی.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35263"/>
            <a:ext cx="4895611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Vazirmatn"/>
              </a:rPr>
              <a:t>شبیه‌سازی سه بعدی محیط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040088"/>
            <a:ext cx="4662487" cy="550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7"/>
              </a:lnSpc>
            </a:pPr>
            <a:r>
              <a:rPr b="0" sz="1275" i="0" u="none">
                <a:solidFill>
                  <a:srgbClr val="CBD5E1"/>
                </a:solidFill>
                <a:latin typeface="Vazirmatn"/>
              </a:rPr>
              <a:t>تحلیل بازتاب‌های چندمسیره امواج الکترومغناطیسی برای بازسازی نقشه‌ای دقیق و شبیه‌سازی ۳ بعدی از محیط اطراف و جابه‌جایی‌های درون آن.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0" y="2839938"/>
            <a:ext cx="409575" cy="361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6837" y="2839938"/>
            <a:ext cx="409575" cy="361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527" y="485775"/>
            <a:ext cx="11581447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1" sz="2550" i="0" u="none">
                <a:solidFill>
                  <a:srgbClr val="F8FAFC"/>
                </a:solidFill>
                <a:latin typeface="Vazirmatn"/>
              </a:rPr>
              <a:t>توسعه آینده: ساختمان و فضای ۳ بعدی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34775" y="9906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4030860"/>
            <a:ext cx="5715000" cy="628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35767" y="2198340"/>
            <a:ext cx="3720465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800" i="0" u="none">
                <a:solidFill>
                  <a:srgbClr val="FFFFFF"/>
                </a:solidFill>
                <a:latin typeface="Vazirmatn ExtraBold"/>
              </a:rPr>
              <a:t>پرسش و پاسخ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9562" y="3341340"/>
            <a:ext cx="3952875" cy="3561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b="0" sz="1650" i="0" u="none">
                <a:solidFill>
                  <a:srgbClr val="CBD5E1"/>
                </a:solidFill>
                <a:latin typeface="Vazirmatn"/>
              </a:rPr>
              <a:t>با سپاس از توجه شما به ارائه پروژه WiFi-Sense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