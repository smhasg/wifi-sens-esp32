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9.png"/><Relationship Id="rId4" Type="http://schemas.openxmlformats.org/officeDocument/2006/relationships/image" Target="../media/image6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04438" y="2726977"/>
            <a:ext cx="4983122" cy="73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b="1" sz="4800" i="0" u="none">
                <a:solidFill>
                  <a:srgbClr val="F3F4F6"/>
                </a:solidFill>
                <a:latin typeface="Vazirmatn"/>
              </a:rPr>
              <a:t>پروژه‌ی WiFi-Sense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09900" y="3648967"/>
            <a:ext cx="6172200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b="0" sz="1950" i="0" u="none">
                <a:solidFill>
                  <a:srgbClr val="38BDF8"/>
                </a:solidFill>
                <a:latin typeface="Vazirmatn"/>
              </a:rPr>
              <a:t>تشخیص حضور، تنفس و موقعیت‌یابی هوشمند با امواج وای‌فای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8812" y="1907827"/>
            <a:ext cx="714375" cy="571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6162" y="4607123"/>
            <a:ext cx="15240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862" y="4607123"/>
            <a:ext cx="15240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081212"/>
            <a:ext cx="532447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3987" y="3701206"/>
            <a:ext cx="2566987" cy="1485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3701206"/>
            <a:ext cx="2566987" cy="148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86500" y="2594669"/>
            <a:ext cx="5324475" cy="8684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9CA3AF"/>
                </a:solidFill>
                <a:latin typeface="Vazirmatn"/>
              </a:rPr>
              <a:t>امروزه پوشش امواج وای‌فای در تمام محیط‌های زندگی قرار دارد. هدف این پروژه بهره‌گیری از همین امواج موجود برای </a:t>
            </a:r>
            <a:r>
              <a:rPr b="1" sz="1425" i="0" u="none">
                <a:solidFill>
                  <a:srgbClr val="38BDF8"/>
                </a:solidFill>
                <a:latin typeface="Vazirmatn"/>
              </a:rPr>
              <a:t>درک هوشمندانه محیط بدون تجهیزات اضافی</a:t>
            </a:r>
            <a:r>
              <a:rPr b="0" sz="1425" i="0" u="none">
                <a:solidFill>
                  <a:srgbClr val="9CA3AF"/>
                </a:solidFill>
                <a:latin typeface="Vazirmatn"/>
              </a:rPr>
              <a:t> است.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550" y="2090737"/>
            <a:ext cx="5305425" cy="3600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291637" y="3901231"/>
            <a:ext cx="2175271" cy="304800"/>
          </a:xfrm>
          <a:prstGeom prst="rect">
            <a:avLst/>
          </a:prstGeom>
          <a:noFill/>
        </p:spPr>
        <p:txBody>
          <a:bodyPr wrap="square" lIns="262979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7171"/>
                </a:solidFill>
                <a:latin typeface="Vazirmatn"/>
              </a:rPr>
              <a:t>دوربین‌های مداربسته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91637" y="4301281"/>
            <a:ext cx="207168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FCA5A5"/>
                </a:solidFill>
                <a:latin typeface="Vazirmatn"/>
              </a:rPr>
              <a:t>نقض حریم خصوصی، هزینه بالا و عدم امکان عبور از موانع سخت و دیوارها.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3901231"/>
            <a:ext cx="2175271" cy="304800"/>
          </a:xfrm>
          <a:prstGeom prst="rect">
            <a:avLst/>
          </a:prstGeom>
          <a:noFill/>
        </p:spPr>
        <p:txBody>
          <a:bodyPr wrap="square" lIns="262979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ADE80"/>
                </a:solidFill>
                <a:latin typeface="Vazirmatn"/>
              </a:rPr>
              <a:t>فناوری WiFi-Sense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150" y="4301281"/>
            <a:ext cx="20716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86EFAC"/>
                </a:solidFill>
                <a:latin typeface="Vazirmatn"/>
              </a:rPr>
              <a:t>حفظ کامل حریم خصوصی، بسیار اقتصادی و نفوذپذیری عالی از دیوار.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76545" y="3939331"/>
            <a:ext cx="186779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9058" y="3939331"/>
            <a:ext cx="186779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9527" y="485775"/>
            <a:ext cx="11581447" cy="638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2550" i="0" u="none">
                <a:solidFill>
                  <a:srgbClr val="FFFFFF"/>
                </a:solidFill>
                <a:latin typeface="Vazirmatn"/>
              </a:rPr>
              <a:t>مقدمه؛ چرا سنجش با وای‌فای؟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039475" y="1219200"/>
            <a:ext cx="571500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1424" y="2614612"/>
            <a:ext cx="3549550" cy="1181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1224" y="2614612"/>
            <a:ext cx="3549699" cy="1181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173" y="2614612"/>
            <a:ext cx="3549550" cy="1181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1424" y="3986212"/>
            <a:ext cx="3549550" cy="1181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1224" y="3986212"/>
            <a:ext cx="3549699" cy="1181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173" y="3986212"/>
            <a:ext cx="3549550" cy="1181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51924" y="2805112"/>
            <a:ext cx="328697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Vazirmatn"/>
              </a:rPr>
              <a:t>۱. فرستنده (ESP32 Sender)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1924" y="3148012"/>
            <a:ext cx="3130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CA3AF"/>
                </a:solidFill>
                <a:latin typeface="Vazirmatn"/>
              </a:rPr>
              <a:t>ارسال مداوم پکت‌های سیگنال روی ۶۴ کانال فرکانسی باند ۲.۴ گیگاهرتز.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1724" y="2805112"/>
            <a:ext cx="328712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Vazirmatn"/>
              </a:rPr>
              <a:t>۲. گیرنده (ESP32 Receiver)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1724" y="3148012"/>
            <a:ext cx="31305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CA3AF"/>
                </a:solidFill>
                <a:latin typeface="Vazirmatn"/>
              </a:rPr>
              <a:t>اسکن کانال‌ها، استخراج RSSI و ارسال داده از طریق پورت Serial به کامپیوتر.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673" y="2805112"/>
            <a:ext cx="328697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Vazirmatn"/>
              </a:rPr>
              <a:t>۳. ثبت و برچسب‌زنی داده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673" y="3148012"/>
            <a:ext cx="3130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CA3AF"/>
                </a:solidFill>
                <a:latin typeface="Vazirmatn"/>
              </a:rPr>
              <a:t>ذخیره داده‌ها در CSV و برچسب‌زنی دقیق به ۳ حالت: ۰ نفر، ۱ نفر و ۲ نفر.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1924" y="4176712"/>
            <a:ext cx="328697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Vazirmatn"/>
              </a:rPr>
              <a:t>۴. پردازش و پنجره زمانی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1924" y="4519612"/>
            <a:ext cx="3130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CA3AF"/>
                </a:solidFill>
                <a:latin typeface="Vazirmatn"/>
              </a:rPr>
              <a:t>اعمال Windowing ۳ ثانیه‌ای بر روی داده‌های RSSI جهت آماده‌سازی مدل.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1724" y="4176712"/>
            <a:ext cx="328712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Vazirmatn"/>
              </a:rPr>
              <a:t>۵. آموزش مدل XGBoost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1724" y="4519612"/>
            <a:ext cx="31305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CA3AF"/>
                </a:solidFill>
                <a:latin typeface="Vazirmatn"/>
              </a:rPr>
              <a:t>آموزش الگوریتم‌های یادگیری ماشین و انتخاب بهترین مدل هوشمند.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673" y="4176712"/>
            <a:ext cx="328697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Vazirmatn"/>
              </a:rPr>
              <a:t>۶. داشبورد لحظه‌ای Streamlit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673" y="4519612"/>
            <a:ext cx="3130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CA3AF"/>
                </a:solidFill>
                <a:latin typeface="Vazirmatn"/>
              </a:rPr>
              <a:t>ترسیم زنده سیگنال‌ها و پیش‌بینی آنلاین وضعیت حضور افراد در اتاق.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527" y="485775"/>
            <a:ext cx="11581447" cy="638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2550" i="0" u="none">
                <a:solidFill>
                  <a:srgbClr val="FFFFFF"/>
                </a:solidFill>
                <a:latin typeface="Vazirmatn"/>
              </a:rPr>
              <a:t>معماری و گام‌های اجرایی پروژه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039475" y="1219200"/>
            <a:ext cx="571500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081212"/>
            <a:ext cx="53244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86500" y="2736800"/>
            <a:ext cx="5038725" cy="578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279"/>
              </a:lnSpc>
            </a:pPr>
            <a:r>
              <a:rPr b="1" sz="1425" i="0" u="none">
                <a:solidFill>
                  <a:srgbClr val="38BDF8"/>
                </a:solidFill>
                <a:latin typeface="Vazirmatn"/>
              </a:rPr>
              <a:t>فرستنده (Sender):</a:t>
            </a:r>
            <a:r>
              <a:rPr b="0" sz="1425" i="0" u="none">
                <a:solidFill>
                  <a:srgbClr val="9CA3AF"/>
                </a:solidFill>
                <a:latin typeface="Vazirmatn"/>
              </a:rPr>
              <a:t> عملکرد مشابه یک روتر کوچک؛ ارسال یکنواخت و پیوسته پکت‌های داده روی ۶۴ کانال فرکانسی استاندارد وای‌فای.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0" y="3506241"/>
            <a:ext cx="5038725" cy="578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279"/>
              </a:lnSpc>
            </a:pPr>
            <a:r>
              <a:rPr b="1" sz="1425" i="0" u="none">
                <a:solidFill>
                  <a:srgbClr val="38BDF8"/>
                </a:solidFill>
                <a:latin typeface="Vazirmatn"/>
              </a:rPr>
              <a:t>گیرنده / مدیر (Receiver-Manager):</a:t>
            </a:r>
            <a:r>
              <a:rPr b="0" sz="1425" i="0" u="none">
                <a:solidFill>
                  <a:srgbClr val="9CA3AF"/>
                </a:solidFill>
                <a:latin typeface="Vazirmatn"/>
              </a:rPr>
              <a:t> پایش پیوسته کانال‌ها، اندازهگیری میزان افت و تغییرات قدرت سیگنال (RSSI) به دست آمده.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4275683"/>
            <a:ext cx="5038725" cy="578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279"/>
              </a:lnSpc>
            </a:pPr>
            <a:r>
              <a:rPr b="1" sz="1425" i="0" u="none">
                <a:solidFill>
                  <a:srgbClr val="38BDF8"/>
                </a:solidFill>
                <a:latin typeface="Vazirmatn"/>
              </a:rPr>
              <a:t>ارسال داده به سیستم پردازش:</a:t>
            </a:r>
            <a:r>
              <a:rPr b="0" sz="1425" i="0" u="none">
                <a:solidFill>
                  <a:srgbClr val="9CA3AF"/>
                </a:solidFill>
                <a:latin typeface="Vazirmatn"/>
              </a:rPr>
              <a:t> انتقال آنلاین و بدون تاخیر داده‌های دریافتی از طریق کابل USB و پورت Serial به لپ‌تاپ.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" y="2090737"/>
            <a:ext cx="5305425" cy="3600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77625" y="2736800"/>
            <a:ext cx="1333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00F2FE"/>
                </a:solidFill>
                <a:latin typeface="Vazirmatn"/>
              </a:rPr>
              <a:t>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7625" y="3506241"/>
            <a:ext cx="1333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00F2FE"/>
                </a:solidFill>
                <a:latin typeface="Vazirmatn"/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7625" y="4275683"/>
            <a:ext cx="1333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00F2FE"/>
                </a:solidFill>
                <a:latin typeface="Vazirmatn"/>
              </a:rPr>
              <a:t>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27" y="485775"/>
            <a:ext cx="11581447" cy="638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2550" i="0" u="none">
                <a:solidFill>
                  <a:srgbClr val="FFFFFF"/>
                </a:solidFill>
                <a:latin typeface="Vazirmatn"/>
              </a:rPr>
              <a:t>سخت‌افزار و زیرساخت ارتباطی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039475" y="1219200"/>
            <a:ext cx="571500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075" y="4748956"/>
            <a:ext cx="5295900" cy="73149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081212"/>
            <a:ext cx="5324475" cy="361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86500" y="2301478"/>
            <a:ext cx="5324475" cy="289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9CA3AF"/>
                </a:solidFill>
                <a:latin typeface="Vazirmatn"/>
              </a:rPr>
              <a:t>داده‌های خام سیگنال در ۳ کلاس متداول برچسب‌زنی شدند: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3251894"/>
            <a:ext cx="5324475" cy="289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9CA3AF"/>
                </a:solidFill>
                <a:latin typeface="Vazirmatn"/>
              </a:rPr>
              <a:t>مقایسه الگوریتم‌های هوش مصنوعی: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636615"/>
            <a:ext cx="53244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CA3AF"/>
                </a:solidFill>
                <a:latin typeface="Vazirmatn"/>
              </a:rPr>
              <a:t>• درخت تصمیم (Decision Tree)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928020"/>
            <a:ext cx="53244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CA3AF"/>
                </a:solidFill>
                <a:latin typeface="Vazirmatn"/>
              </a:rPr>
              <a:t>• جنگل تصادفی (Random Forest)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4219426"/>
            <a:ext cx="53244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CA3AF"/>
                </a:solidFill>
                <a:latin typeface="Vazirmatn"/>
              </a:rPr>
              <a:t>• گرادیان بوستینگ (XGBoost)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9400" y="2733823"/>
            <a:ext cx="1171575" cy="32757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7775" y="2733823"/>
            <a:ext cx="1476375" cy="32757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0875" y="2733823"/>
            <a:ext cx="1771650" cy="32757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86675" y="4901356"/>
            <a:ext cx="2667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b="0" sz="2100" i="0" u="none">
                <a:solidFill>
                  <a:srgbClr val="00F2FE"/>
                </a:solidFill>
                <a:latin typeface="Vazirmatn ExtraBold"/>
              </a:rPr>
              <a:t>دقت ۸۶٪ مدل XGBoost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550" y="2090737"/>
            <a:ext cx="5305425" cy="3600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9527" y="485775"/>
            <a:ext cx="11581447" cy="638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2550" i="0" u="none">
                <a:solidFill>
                  <a:srgbClr val="FFFFFF"/>
                </a:solidFill>
                <a:latin typeface="Vazirmatn"/>
              </a:rPr>
              <a:t>پردازش داده و یادگیری ماشین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039475" y="1219200"/>
            <a:ext cx="571500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081212"/>
            <a:ext cx="53244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86500" y="2591990"/>
            <a:ext cx="5038725" cy="578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279"/>
              </a:lnSpc>
            </a:pPr>
            <a:r>
              <a:rPr b="1" sz="1425" i="0" u="none">
                <a:solidFill>
                  <a:srgbClr val="38BDF8"/>
                </a:solidFill>
                <a:latin typeface="Vazirmatn"/>
              </a:rPr>
              <a:t>توسعه سریع با Streamlit:</a:t>
            </a:r>
            <a:r>
              <a:rPr b="0" sz="1425" i="0" u="none">
                <a:solidFill>
                  <a:srgbClr val="9CA3AF"/>
                </a:solidFill>
                <a:latin typeface="Vazirmatn"/>
              </a:rPr>
              <a:t> پیاده‌سازی یک محیط گرافیکی و تعاملی جهت نمایش زنده داده‌های دریافتی سیگنال.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0" y="3361432"/>
            <a:ext cx="5038725" cy="578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279"/>
              </a:lnSpc>
            </a:pPr>
            <a:r>
              <a:rPr b="1" sz="1425" i="0" u="none">
                <a:solidFill>
                  <a:srgbClr val="38BDF8"/>
                </a:solidFill>
                <a:latin typeface="Vazirmatn"/>
              </a:rPr>
              <a:t>پنجره زمانی (Windowing):</a:t>
            </a:r>
            <a:r>
              <a:rPr b="0" sz="1425" i="0" u="none">
                <a:solidFill>
                  <a:srgbClr val="9CA3AF"/>
                </a:solidFill>
                <a:latin typeface="Vazirmatn"/>
              </a:rPr>
              <a:t> تقسیم داده‌ها به بازه‌های ۳ ثانیه‌ای جهت حذف نویز و بهبود دقت تحلیل.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4130873"/>
            <a:ext cx="5038725" cy="8684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279"/>
              </a:lnSpc>
            </a:pPr>
            <a:r>
              <a:rPr b="1" sz="1425" i="0" u="none">
                <a:solidFill>
                  <a:srgbClr val="38BDF8"/>
                </a:solidFill>
                <a:latin typeface="Vazirmatn"/>
              </a:rPr>
              <a:t>پیش‌بینی زنده (Real-Time Inference):</a:t>
            </a:r>
            <a:r>
              <a:rPr b="0" sz="1425" i="0" u="none">
                <a:solidFill>
                  <a:srgbClr val="9CA3AF"/>
                </a:solidFill>
                <a:latin typeface="Vazirmatn"/>
              </a:rPr>
              <a:t> ارسال داده‌های لایو به مدل XGBoost و نمایش آنی وضعیت محیط (مثلاً: "۲ نفر در اتاق حضور دارند").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" y="2090737"/>
            <a:ext cx="5305425" cy="3600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77625" y="2591990"/>
            <a:ext cx="1333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00F2FE"/>
                </a:solidFill>
                <a:latin typeface="Vazirmatn"/>
              </a:rPr>
              <a:t>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7625" y="3361432"/>
            <a:ext cx="1333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00F2FE"/>
                </a:solidFill>
                <a:latin typeface="Vazirmatn"/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7625" y="4130873"/>
            <a:ext cx="1333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00F2FE"/>
                </a:solidFill>
                <a:latin typeface="Vazirmatn"/>
              </a:rPr>
              <a:t>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27" y="485775"/>
            <a:ext cx="11581447" cy="638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2550" i="0" u="none">
                <a:solidFill>
                  <a:srgbClr val="FFFFFF"/>
                </a:solidFill>
                <a:latin typeface="Vazirmatn"/>
              </a:rPr>
              <a:t>داشبورد پایش لحظه‌ای (Streamlit)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039475" y="1219200"/>
            <a:ext cx="571500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4937" y="2681287"/>
            <a:ext cx="2586037" cy="2419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2681287"/>
            <a:ext cx="2586037" cy="2419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5662" y="2681287"/>
            <a:ext cx="2586037" cy="2419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81287"/>
            <a:ext cx="2586037" cy="2419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8500" y="2919412"/>
            <a:ext cx="514350" cy="514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808815" y="3605212"/>
            <a:ext cx="1642236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3F4F6"/>
                </a:solidFill>
                <a:latin typeface="Vazirmatn"/>
              </a:rPr>
              <a:t>🫀 پایش علائم حیاتی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63062" y="4005262"/>
            <a:ext cx="2109787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CA3AF"/>
                </a:solidFill>
                <a:latin typeface="Vazirmatn"/>
              </a:rPr>
              <a:t>تشخیص حرکت دقیق قفسه سینه، نرخ تنفس و ضربان قلب بیماران در بیمارستان بدون نیاز به اتصال سنسور به بدن.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3862" y="2919412"/>
            <a:ext cx="514350" cy="514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05513" y="3605212"/>
            <a:ext cx="1420333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3F4F6"/>
                </a:solidFill>
                <a:latin typeface="Vazirmatn"/>
              </a:rPr>
              <a:t>👵 خانه سالمندان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8425" y="4005262"/>
            <a:ext cx="2109787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CA3AF"/>
                </a:solidFill>
                <a:latin typeface="Vazirmatn"/>
              </a:rPr>
              <a:t>اتصال به سیستم هشدار اضطراری؛ تشخیص آنی افت علائم حیاتی یا افتادن سالمند روی زمین و اطلاع به پرستار.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9225" y="2919412"/>
            <a:ext cx="514350" cy="5143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49055" y="3605212"/>
            <a:ext cx="146424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3F4F6"/>
                </a:solidFill>
                <a:latin typeface="Vazirmatn"/>
              </a:rPr>
              <a:t>🏢 امنیت هوشمند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3787" y="4005262"/>
            <a:ext cx="2109787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CA3AF"/>
                </a:solidFill>
                <a:latin typeface="Vazirmatn"/>
              </a:rPr>
              <a:t>سیستم امنیتی یکپارچه و هوشمند در کل ساختمان بدون وجود نقطه کور و بدون نقض حریم خصوصی افراد.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4587" y="2919412"/>
            <a:ext cx="514350" cy="5143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22784" y="3605212"/>
            <a:ext cx="16864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3F4F6"/>
                </a:solidFill>
                <a:latin typeface="Vazirmatn"/>
              </a:rPr>
              <a:t>🎮 شبیه‌سازی ۳بعدی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50" y="4005262"/>
            <a:ext cx="2109787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CA3AF"/>
                </a:solidFill>
                <a:latin typeface="Vazirmatn"/>
              </a:rPr>
              <a:t>ترسیم نقشه ۳بعدی از محیط و موقعیت‌سنجی دقیق افراد در فضای بسته (Indoor Positioning).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91850" y="3052762"/>
            <a:ext cx="247650" cy="247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1500" y="3052762"/>
            <a:ext cx="219075" cy="2476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62575" y="3052762"/>
            <a:ext cx="247650" cy="2476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33650" y="3052762"/>
            <a:ext cx="276225" cy="2476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9527" y="485775"/>
            <a:ext cx="11581447" cy="638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2550" i="0" u="none">
                <a:solidFill>
                  <a:srgbClr val="FFFFFF"/>
                </a:solidFill>
                <a:latin typeface="Vazirmatn"/>
              </a:rPr>
              <a:t>ایده‌های توسعه و کاربردهای آینده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39475" y="1219200"/>
            <a:ext cx="571500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70282" y="581025"/>
            <a:ext cx="5540692" cy="638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2550" i="0" u="none">
                <a:solidFill>
                  <a:srgbClr val="FFFFFF"/>
                </a:solidFill>
                <a:latin typeface="Vazirmatn"/>
              </a:rPr>
              <a:t>چشم‌انداز پروژه (Vision)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" y="9525"/>
            <a:ext cx="5848350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039475" y="1314450"/>
            <a:ext cx="571500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34125" y="1504950"/>
            <a:ext cx="5276850" cy="712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04"/>
              </a:lnSpc>
            </a:pPr>
            <a:r>
              <a:rPr b="0" sz="1650" i="0" u="none">
                <a:solidFill>
                  <a:srgbClr val="F3F4F6"/>
                </a:solidFill>
                <a:latin typeface="Vazirmatn"/>
              </a:rPr>
              <a:t>هدف نهایی، ایجاد شبکه‌ای از امواج نامرئی است که مانند یک مغز هوشمند، تمام محیط اطراف را احساس کند.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2407741"/>
            <a:ext cx="5276850" cy="874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b="0" sz="1350" i="0" u="none">
                <a:solidFill>
                  <a:srgbClr val="9CA3AF"/>
                </a:solidFill>
                <a:latin typeface="Vazirmatn"/>
              </a:rPr>
              <a:t>این پروژه اثبات کرد که با یک سخت‌افزار اقتصادی ۵ دلاری (ESP32) و الگوریتم‌های هوش مصنوعی، می‌توان بدون نقض حریم خصوصی، جان انسان‌ها را نجات داد.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5276" y="3403252"/>
            <a:ext cx="11581447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FFFFF"/>
                </a:solidFill>
                <a:latin typeface="Vazirmatn"/>
              </a:rPr>
              <a:t>از توجه شما سپاسگزاریم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1025" y="4422427"/>
            <a:ext cx="1102995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38BDF8"/>
                </a:solidFill>
                <a:latin typeface="Vazirmatn"/>
              </a:rPr>
              <a:t>پرسش و پاسخ (Q&amp;A)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9762" y="2174527"/>
            <a:ext cx="752475" cy="6667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0" y="1933723"/>
            <a:ext cx="94488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718494"/>
            <a:ext cx="94488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3503265"/>
            <a:ext cx="94488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4288035"/>
            <a:ext cx="94488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2708969"/>
            <a:ext cx="9448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2708969"/>
            <a:ext cx="9448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3493740"/>
            <a:ext cx="9448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3493740"/>
            <a:ext cx="9448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1600" y="4278510"/>
            <a:ext cx="9448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0" y="4278510"/>
            <a:ext cx="9448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71600" y="5063281"/>
            <a:ext cx="9448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71600" y="5063281"/>
            <a:ext cx="9448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3150" y="2083147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71600" y="2076598"/>
            <a:ext cx="83534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</a:pPr>
            <a:r>
              <a:rPr b="0" sz="975" i="0" u="none">
                <a:solidFill>
                  <a:srgbClr val="9CA3AF"/>
                </a:solidFill>
                <a:latin typeface="Vazirmatn"/>
              </a:rPr>
              <a:t>https://www.melita.com/wp-content/uploads/2026/06/207f76a7-400e-4257-8ecb-95b833c50436.jpg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322314"/>
            <a:ext cx="83534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920"/>
              </a:lnSpc>
            </a:pPr>
            <a:r>
              <a:rPr b="0" sz="1200" i="0" u="none">
                <a:solidFill>
                  <a:srgbClr val="9CA3AF"/>
                </a:solidFill>
                <a:latin typeface="Vazirmatn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Vazirmatn"/>
              </a:rPr>
              <a:t>www.melita.com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3150" y="2867917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71600" y="2861369"/>
            <a:ext cx="83534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</a:pPr>
            <a:r>
              <a:rPr b="0" sz="975" i="0" u="none">
                <a:solidFill>
                  <a:srgbClr val="9CA3AF"/>
                </a:solidFill>
                <a:latin typeface="Vazirmatn"/>
              </a:rPr>
              <a:t>https://kitsguru.com/cdn/shop/files/ESP3238PinDevelopmentBoardWiFi_BluetoothUltra-LowPowerConsumptionDualCoreWithoutCable.jpg?v=1769839721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107084"/>
            <a:ext cx="83534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920"/>
              </a:lnSpc>
            </a:pPr>
            <a:r>
              <a:rPr b="0" sz="1200" i="0" u="none">
                <a:solidFill>
                  <a:srgbClr val="9CA3AF"/>
                </a:solidFill>
                <a:latin typeface="Vazirmatn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Vazirmatn"/>
              </a:rPr>
              <a:t>kitsguru.com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3150" y="3652688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371600" y="3646140"/>
            <a:ext cx="83534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</a:pPr>
            <a:r>
              <a:rPr b="0" sz="975" i="0" u="none">
                <a:solidFill>
                  <a:srgbClr val="9CA3AF"/>
                </a:solidFill>
                <a:latin typeface="Vazirmatn"/>
              </a:rPr>
              <a:t>https://machinelearningmastery.com/wp-content/uploads/2020/01/Scatter-Plot-of-Multi-Class-Classification-Dataset.png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891855"/>
            <a:ext cx="83534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920"/>
              </a:lnSpc>
            </a:pPr>
            <a:r>
              <a:rPr b="0" sz="1200" i="0" u="none">
                <a:solidFill>
                  <a:srgbClr val="9CA3AF"/>
                </a:solidFill>
                <a:latin typeface="Vazirmatn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Vazirmatn"/>
              </a:rPr>
              <a:t>machinelearningmastery.com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3150" y="4437459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71600" y="4430910"/>
            <a:ext cx="83534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</a:pPr>
            <a:r>
              <a:rPr b="0" sz="975" i="0" u="none">
                <a:solidFill>
                  <a:srgbClr val="9CA3AF"/>
                </a:solidFill>
                <a:latin typeface="Vazirmatn"/>
              </a:rPr>
              <a:t>https://cdn.dribbble.com/userupload/43507872/file/original-df7180b18e97f8487d50bd65cba0a013.png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676626"/>
            <a:ext cx="83534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920"/>
              </a:lnSpc>
            </a:pPr>
            <a:r>
              <a:rPr b="0" sz="1200" i="0" u="none">
                <a:solidFill>
                  <a:srgbClr val="9CA3AF"/>
                </a:solidFill>
                <a:latin typeface="Vazirmatn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Vazirmatn"/>
              </a:rPr>
              <a:t>dribbble.com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3150" y="5222230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371600" y="5215681"/>
            <a:ext cx="83534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</a:pPr>
            <a:r>
              <a:rPr b="0" sz="975" i="0" u="none">
                <a:solidFill>
                  <a:srgbClr val="9CA3AF"/>
                </a:solidFill>
                <a:latin typeface="Vazirmatn"/>
              </a:rPr>
              <a:t>https://png.pngtree.com/background/20250111/original/pngtree-smart-home-lounge-in-neon-glow-picture-image_16109275.jpg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461396"/>
            <a:ext cx="83534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920"/>
              </a:lnSpc>
            </a:pPr>
            <a:r>
              <a:rPr b="0" sz="1200" i="0" u="none">
                <a:solidFill>
                  <a:srgbClr val="9CA3AF"/>
                </a:solidFill>
                <a:latin typeface="Vazirmatn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Vazirmatn"/>
              </a:rPr>
              <a:t>pngtree.com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527" y="485775"/>
            <a:ext cx="11581447" cy="638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2550" i="0" u="none">
                <a:solidFill>
                  <a:srgbClr val="FFFFFF"/>
                </a:solidFill>
                <a:latin typeface="Vazirmatn"/>
              </a:rPr>
              <a:t>Image Sources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039475" y="1219200"/>
            <a:ext cx="571500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