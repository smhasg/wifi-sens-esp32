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2190750"/>
            <a:ext cx="3467100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90736" y="2762250"/>
            <a:ext cx="4210526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5400" i="0" u="none">
                <a:solidFill>
                  <a:srgbClr val="FFFFFF"/>
                </a:solidFill>
                <a:latin typeface="Poppins ExtraBold"/>
              </a:rPr>
              <a:t>WiFi-Sense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981450"/>
            <a:ext cx="8096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Contactless Human Presence Detection &amp; Ambient Intelligence via Wi-Fi Electromagnetic Wave Fluctuations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80357"/>
            <a:ext cx="5324475" cy="29069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80357"/>
            <a:ext cx="5324475" cy="2906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332857"/>
            <a:ext cx="4870608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Poppins"/>
              </a:rPr>
              <a:t>Sender ESP32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847207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Programmed to transmit continuous packet streams across 64 Wi-Fi channels. Functions as an RF signal emitter, creating an active electromagnetic field across the physical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2857"/>
            <a:ext cx="4870608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Poppins"/>
              </a:rPr>
              <a:t>Receiver-Manager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847207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Receives transmitted packets across multi-channel spectra. Captures variations in received signal properties and streams raw metric data over the Serial port interface.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761357"/>
            <a:ext cx="390525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761357"/>
            <a:ext cx="3429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Hardware &amp; Transceiver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10096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4062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24062"/>
            <a:ext cx="49911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Serial Data Stream: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Python interface continuously reads high-frequency packet telemetry from the Receiver ESP32 via Serial connection.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37433"/>
            <a:ext cx="49911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Automated File Logger: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Structured Python script parses incoming stream metrics and appends clean numerical logs into dataset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50803"/>
            <a:ext cx="49911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Wave Perturbation Analysis: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Captures physical electromagnetic scattering and absorption caused by obstacles and movement.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33587"/>
            <a:ext cx="5305425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57400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070770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084141"/>
            <a:ext cx="23812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Data Acquisition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10096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84226"/>
            <a:ext cx="3486150" cy="28991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384226"/>
            <a:ext cx="3486150" cy="28991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384226"/>
            <a:ext cx="3486150" cy="28991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727126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536751"/>
            <a:ext cx="304038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oppins"/>
              </a:rPr>
              <a:t>Empty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65376"/>
            <a:ext cx="289560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Baseline environment data with zero occupants. Represents natural background RF noise and static multipath baseline.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727126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536751"/>
            <a:ext cx="304038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oppins"/>
              </a:rPr>
              <a:t>1 Person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965376"/>
            <a:ext cx="28956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Single human occupant in the space. Introduces distinctive signal attenuation and localized phase variance pattern.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727126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536751"/>
            <a:ext cx="304038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oppins"/>
              </a:rPr>
              <a:t>2 People Present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965376"/>
            <a:ext cx="289560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Multiple occupants in monitored area. Creates compound electromagnetic reflection and dynamic interference matrix.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879526"/>
            <a:ext cx="3048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887" y="2879526"/>
            <a:ext cx="2381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9162" y="2879526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Occupancy Data Labeling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10096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95400"/>
            <a:ext cx="11029950" cy="5076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19237" y="5045422"/>
            <a:ext cx="91535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XGBoost achieved peak classification score by effectively capturing non-linear gradient dynamics across all 64 Wi-Fi channels.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Machine Learning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10096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81275"/>
            <a:ext cx="5324475" cy="2505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2971800"/>
            <a:ext cx="4924425" cy="133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4448175"/>
            <a:ext cx="49244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8FAFC"/>
                </a:solidFill>
                <a:latin typeface="Inter SemiBold"/>
              </a:rPr>
              <a:t>Presence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979539"/>
            <a:ext cx="559069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Poppins"/>
              </a:rPr>
              <a:t>Reliable Camera-Free Sensing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522464"/>
            <a:ext cx="5324475" cy="11656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By leveraging ensemble gradient boosting over multi-channel Wi-Fi signal power variance, WiFi-Sense accurately classifies room occupancy status with 86% accuracy without using any cameras, preserving complete user privacy.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Detection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10096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Streamlit Real-Time Dashboard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1628775"/>
            <a:ext cx="70842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1025" y="2825204"/>
            <a:ext cx="554069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Poppins"/>
              </a:rPr>
              <a:t>3-Second Sliding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339554"/>
            <a:ext cx="52768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The Streamlit web dashboard visualizes incoming signal power across channels using a 3-second rolling window for live dynamic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352925"/>
            <a:ext cx="52768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Real-time metric windows are continuously streamed into the trained XGBoost model, rendering immediate occupancy predictions on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84226"/>
            <a:ext cx="3486150" cy="28991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384226"/>
            <a:ext cx="3486150" cy="28991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384226"/>
            <a:ext cx="3486150" cy="28991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727126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536751"/>
            <a:ext cx="304038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oppins"/>
              </a:rPr>
              <a:t>Heart Rate Sensing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65376"/>
            <a:ext cx="289560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Enhancing wave resolution to capture micro-disturbances caused by chest wall displacement and cardiac pulse cycles.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727126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536751"/>
            <a:ext cx="304038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oppins"/>
              </a:rPr>
              <a:t>Elderly &amp; Patient 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965376"/>
            <a:ext cx="28956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Continuous non-invasive monitoring in hospitals and care facilities without requiring wearable body tags.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727126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536751"/>
            <a:ext cx="304038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oppins"/>
              </a:rPr>
              <a:t>Automated Nurse Alarms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965376"/>
            <a:ext cx="28956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Triggering instantaneous emergency alerts to medical personnel if vital signs drop or critical anomalies occur.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879526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7262" y="2879526"/>
            <a:ext cx="33337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6787" y="2879526"/>
            <a:ext cx="2381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Vital Signs &amp; Healthcare Vision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10096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17427"/>
            <a:ext cx="5324475" cy="26326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17427"/>
            <a:ext cx="5324475" cy="2632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469927"/>
            <a:ext cx="4870608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Poppins"/>
              </a:rPr>
              <a:t>Building-Wide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984277"/>
            <a:ext cx="46386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Scaling transceiver node range to span entire multi-room floors, creating a seamless, non-intrusive security network with zero privacy tradeoffs.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469927"/>
            <a:ext cx="4870608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Poppins"/>
              </a:rPr>
              <a:t>3D Room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984277"/>
            <a:ext cx="46386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Utilizing high-precision multipath RF wave reflection mapping to reconstruct internal room geometry and simulate indoor spatial dynamics in 3D.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898427"/>
            <a:ext cx="390525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898427"/>
            <a:ext cx="3429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Smart Building &amp; Privacy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10096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87" y="4130873"/>
            <a:ext cx="6600825" cy="561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60458" y="2165002"/>
            <a:ext cx="8671083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9962" y="3384202"/>
            <a:ext cx="517207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Thank you for exploring the WiFi-Sense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954684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372993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72993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04108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3097559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https://docs.espressif.com/projects/esp-hardware-design-guidelines/en/latest/esp32/_images/esp32-sche-core.png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343275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docs.espressif.com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87998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3882330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https://cdn.prod.website-files.com/617960145ff34f911afe7243/692610a2df06ad0ee562a700_Analytics%20Dashboards%20with%20Real-Time%20Financial%20Data%20.jpg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326135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intrinio.com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025" y="10096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